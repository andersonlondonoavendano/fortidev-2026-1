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0E5A2-6942-4DCE-A6D1-F2920A814CC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BDEA4-D79B-478F-9D48-1CD515635D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469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BDEA4-D79B-478F-9D48-1CD515635D8E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3990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BDEA4-D79B-478F-9D48-1CD515635D8E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550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dirty="0" err="1">
                <a:solidFill>
                  <a:srgbClr val="F97316"/>
                </a:solidFill>
                <a:latin typeface="Calibri"/>
              </a:rPr>
              <a:t>FortiDev</a:t>
            </a:r>
            <a:endParaRPr sz="5600" b="1" dirty="0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Penetration Testing as a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Plataforma web de análisis de seguridad para equipos de desarrollo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788920"/>
            <a:ext cx="48737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38BDF8"/>
                </a:solidFill>
                <a:latin typeface="Calibri"/>
              </a:rPr>
              <a:t>Santiago Suaza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044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0B981"/>
                </a:solidFill>
                <a:latin typeface="Calibri"/>
              </a:rPr>
              <a:t>Xavier Rua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6908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F97316"/>
                </a:solidFill>
                <a:latin typeface="Calibri"/>
              </a:rPr>
              <a:t>Anderson de Jesús Londoño Avendaño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Tecnológico de Antioquia  ·  12 de mayo de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Distribución de la exposición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FortiDev PTaaS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46304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8BDF8"/>
                </a:solidFill>
                <a:latin typeface="Calibri"/>
              </a:rPr>
              <a:t>Santiago Suaza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▸  Descripción del 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▸  Descripción del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▸  Justificación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146304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0B981"/>
                </a:solidFill>
                <a:latin typeface="Calibri"/>
              </a:rPr>
              <a:t>Xavier Rua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4028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▸  Objetivos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83464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▸  Alcance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657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36576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146304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97316"/>
                </a:solidFill>
                <a:latin typeface="Calibri"/>
              </a:rPr>
              <a:t>Anderson de Jesús Londoño Avendaño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24028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FFFFFF"/>
                </a:solidFill>
                <a:latin typeface="Calibri"/>
              </a:rPr>
              <a:t>  ▸ 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Área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intervenir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(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diagrama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proceso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3464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▸  Requisitos funcionales y no funcionales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2900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▸  Arquitectura y propuesta de solución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Descripción del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El gap entre velocidad y seguridad en el desarrollo de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Santiago Suaza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Santiago Suaza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FortiDev PTaaS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642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38BDF8"/>
                </a:solidFill>
                <a:latin typeface="Calibri"/>
              </a:rPr>
              <a:t>Causas</a:t>
            </a:r>
            <a:endParaRPr sz="1800" b="1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2084831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Metodologías ágiles priorizan velocidad sobre 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56032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Sin herramientas integradas de análisis continuo en el SDLC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3580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El análisis manual no escala para múltiples proyectos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11296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Equipos de seguridad y desarrollo operan en silos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642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F87171"/>
                </a:solidFill>
                <a:latin typeface="Calibri"/>
              </a:rPr>
              <a:t>Efectos</a:t>
            </a:r>
            <a:endParaRPr sz="1800" b="1" dirty="0">
              <a:solidFill>
                <a:srgbClr val="F87171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2084831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Vulnerabilidades OWASP Top 10 llegan a 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Costo de corrección en producción: hasta 30× mayor (NIST)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3580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Sin trazabilidad: quién analizó qué, cuándo y con qué 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11296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• Datos de clientes y sistemas expuestos a ciberataques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664208"/>
            <a:ext cx="36576" cy="3200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7790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38BDF8"/>
                </a:solidFill>
                <a:latin typeface="Calibri"/>
              </a:rPr>
              <a:t>FortiDev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cierra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esta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brecha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con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análisis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SAST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automatizado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y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gestión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colaborativa</a:t>
            </a:r>
            <a:r>
              <a:rPr sz="1600" b="1" dirty="0">
                <a:solidFill>
                  <a:srgbClr val="38BDF8"/>
                </a:solidFill>
                <a:latin typeface="Calibri"/>
              </a:rPr>
              <a:t> de </a:t>
            </a:r>
            <a:r>
              <a:rPr sz="1600" b="1" dirty="0" err="1">
                <a:solidFill>
                  <a:srgbClr val="38BDF8"/>
                </a:solidFill>
                <a:latin typeface="Calibri"/>
              </a:rPr>
              <a:t>hallazgos</a:t>
            </a:r>
            <a:endParaRPr sz="1600" b="1" dirty="0">
              <a:solidFill>
                <a:srgbClr val="38BDF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Descripción del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Sector: DevSecOps / Ciberseguridad aplicada al desarrollo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Santiago Suaza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Santiago Suaza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FortiDev PTaaS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Calibri"/>
              </a:rPr>
              <a:t>Modelo multi-tenant — Roles del sistema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03120"/>
            <a:ext cx="14630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37360" y="2103120"/>
            <a:ext cx="402336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194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194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Gestión global de usuarios y configuración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61487"/>
            <a:ext cx="146304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37360" y="2761487"/>
            <a:ext cx="402336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8529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DEVELOPER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852927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Registra proyectos, inicia escaneos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19856"/>
            <a:ext cx="14630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37360" y="3419856"/>
            <a:ext cx="402336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511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51129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Triagea y gestiona hallazgos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78224"/>
            <a:ext cx="146304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737360" y="4078224"/>
            <a:ext cx="402336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4169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PENTESTER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1696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Carga revisiones manuales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691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Calibri"/>
              </a:rPr>
              <a:t>Roles de organización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103120"/>
            <a:ext cx="14630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89520" y="2103120"/>
            <a:ext cx="4297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2194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OWNER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1945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Control total de la organización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61487"/>
            <a:ext cx="146304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89520" y="2761487"/>
            <a:ext cx="429768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28529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52927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Gestiona miembros y proyectos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419856"/>
            <a:ext cx="14630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89520" y="3419856"/>
            <a:ext cx="4297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3511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MEMBER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51129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Acceso a proyectos asignados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78224"/>
            <a:ext cx="146304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89520" y="4078224"/>
            <a:ext cx="4297680" cy="53035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72200" y="4169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VIEWER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16966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Solo lectura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1691640"/>
            <a:ext cx="36576" cy="3200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5760720"/>
            <a:ext cx="11612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0B981"/>
                </a:solidFill>
                <a:latin typeface="Calibri"/>
              </a:rPr>
              <a:t>SaaS multi-tenant: </a:t>
            </a:r>
            <a:r>
              <a:rPr sz="1500" b="1" dirty="0" err="1">
                <a:solidFill>
                  <a:srgbClr val="10B981"/>
                </a:solidFill>
                <a:latin typeface="Calibri"/>
              </a:rPr>
              <a:t>múltiples</a:t>
            </a:r>
            <a:r>
              <a:rPr sz="1500" b="1" dirty="0">
                <a:solidFill>
                  <a:srgbClr val="10B981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0B981"/>
                </a:solidFill>
                <a:latin typeface="Calibri"/>
              </a:rPr>
              <a:t>empresas</a:t>
            </a:r>
            <a:r>
              <a:rPr sz="1500" b="1" dirty="0">
                <a:solidFill>
                  <a:srgbClr val="10B981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0B981"/>
                </a:solidFill>
                <a:latin typeface="Calibri"/>
              </a:rPr>
              <a:t>operan</a:t>
            </a:r>
            <a:r>
              <a:rPr sz="1500" b="1" dirty="0">
                <a:solidFill>
                  <a:srgbClr val="10B981"/>
                </a:solidFill>
                <a:latin typeface="Calibri"/>
              </a:rPr>
              <a:t> de forma </a:t>
            </a:r>
            <a:r>
              <a:rPr sz="1500" b="1" dirty="0" err="1">
                <a:solidFill>
                  <a:srgbClr val="10B981"/>
                </a:solidFill>
                <a:latin typeface="Calibri"/>
              </a:rPr>
              <a:t>aislada</a:t>
            </a:r>
            <a:r>
              <a:rPr sz="1500" b="1" dirty="0">
                <a:solidFill>
                  <a:srgbClr val="10B981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0B981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0B981"/>
                </a:solidFill>
                <a:latin typeface="Calibri"/>
              </a:rPr>
              <a:t> la </a:t>
            </a:r>
            <a:r>
              <a:rPr sz="1500" b="1" dirty="0" err="1">
                <a:solidFill>
                  <a:srgbClr val="10B981"/>
                </a:solidFill>
                <a:latin typeface="Calibri"/>
              </a:rPr>
              <a:t>misma</a:t>
            </a:r>
            <a:r>
              <a:rPr sz="1500" b="1" dirty="0">
                <a:solidFill>
                  <a:srgbClr val="10B981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0B981"/>
                </a:solidFill>
                <a:latin typeface="Calibri"/>
              </a:rPr>
              <a:t>instancia</a:t>
            </a:r>
            <a:endParaRPr sz="1500" b="1" dirty="0">
              <a:solidFill>
                <a:srgbClr val="10B98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Justificación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¿Por qué FortiDev es la solución adecuada?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Santiago Suaza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Santiago Suaza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5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FortiDev PTaaS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56692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664208"/>
            <a:ext cx="5669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177393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38BDF8"/>
                </a:solidFill>
                <a:latin typeface="Calibri"/>
              </a:rPr>
              <a:t>Semgrep</a:t>
            </a:r>
            <a:r>
              <a:rPr sz="17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8BDF8"/>
                </a:solidFill>
                <a:latin typeface="Calibri"/>
              </a:rPr>
              <a:t>como</a:t>
            </a:r>
            <a:r>
              <a:rPr sz="1700" b="1" dirty="0">
                <a:solidFill>
                  <a:srgbClr val="38BDF8"/>
                </a:solidFill>
                <a:latin typeface="Calibri"/>
              </a:rPr>
              <a:t> motor SAST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1945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Herramienta de clase mundial usada por Slack, Dropbox y Trail of Bits.
Ejecutada en Worker Thread: el servidor nunca se bloquea.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64208"/>
            <a:ext cx="56692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64208"/>
            <a:ext cx="5669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77393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38BDF8"/>
                </a:solidFill>
                <a:latin typeface="Calibri"/>
              </a:rPr>
              <a:t>Ciclo de </a:t>
            </a:r>
            <a:r>
              <a:rPr sz="1700" b="1" dirty="0" err="1">
                <a:solidFill>
                  <a:srgbClr val="38BDF8"/>
                </a:solidFill>
                <a:latin typeface="Calibri"/>
              </a:rPr>
              <a:t>vida</a:t>
            </a:r>
            <a:r>
              <a:rPr sz="17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8BDF8"/>
                </a:solidFill>
                <a:latin typeface="Calibri"/>
              </a:rPr>
              <a:t>completo</a:t>
            </a:r>
            <a:r>
              <a:rPr sz="1700" b="1" dirty="0">
                <a:solidFill>
                  <a:srgbClr val="38BDF8"/>
                </a:solidFill>
                <a:latin typeface="Calibri"/>
              </a:rPr>
              <a:t> del </a:t>
            </a:r>
            <a:r>
              <a:rPr sz="1700" b="1" dirty="0" err="1">
                <a:solidFill>
                  <a:srgbClr val="38BDF8"/>
                </a:solidFill>
                <a:latin typeface="Calibri"/>
              </a:rPr>
              <a:t>hallazgo</a:t>
            </a:r>
            <a:endParaRPr sz="1700" b="1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OPEN → IN_PROGRESS → RESOLVED / ACCEPTED_RISK / FALSE_POSITIVE.
Asignación, notas y evidencias por hallazgo — no solo un reporte PDF.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75888"/>
            <a:ext cx="56692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675888"/>
            <a:ext cx="5669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78561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38BDF8"/>
                </a:solidFill>
                <a:latin typeface="Calibri"/>
              </a:rPr>
              <a:t>Seguridad</a:t>
            </a:r>
            <a:r>
              <a:rPr sz="17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8BDF8"/>
                </a:solidFill>
                <a:latin typeface="Calibri"/>
              </a:rPr>
              <a:t>por</a:t>
            </a:r>
            <a:r>
              <a:rPr sz="1700" b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8BDF8"/>
                </a:solidFill>
                <a:latin typeface="Calibri"/>
              </a:rPr>
              <a:t>diseño</a:t>
            </a:r>
            <a:endParaRPr sz="1700" b="1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" y="4206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Helmet + Rate limiting (10 req/15min en auth) + Zod + JWT 15min
+ refresh token en cookie httpOnly — la plataforma es segura por sí misma.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75888"/>
            <a:ext cx="56692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675888"/>
            <a:ext cx="5669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3785616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38BDF8"/>
                </a:solidFill>
                <a:latin typeface="Calibri"/>
              </a:rPr>
              <a:t>Estándares</a:t>
            </a:r>
            <a:r>
              <a:rPr sz="1700" b="1" dirty="0">
                <a:solidFill>
                  <a:srgbClr val="38BDF8"/>
                </a:solidFill>
                <a:latin typeface="Calibri"/>
              </a:rPr>
              <a:t> de la </a:t>
            </a:r>
            <a:r>
              <a:rPr sz="1700" b="1" dirty="0" err="1">
                <a:solidFill>
                  <a:srgbClr val="38BDF8"/>
                </a:solidFill>
                <a:latin typeface="Calibri"/>
              </a:rPr>
              <a:t>industria</a:t>
            </a:r>
            <a:endParaRPr sz="1700" b="1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55080" y="4206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Hallazgos mapeados a CWE (Common Weakness Enumeration) y OWASP.
Comunicación directa con auditores y equipos de cumplimiento.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General y específicos alineados con las funcionalidades del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Xavier Rua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Xavier Rua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6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FortiDev PTaaS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91640"/>
            <a:ext cx="116128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69164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7373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Objetivo General: Desarrollar una plataforma web PTaaS que permita a organizaciones detectar, gestionar y remediar vulnerabilidades de seguridad de forma automatizada y colaborativa.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33472"/>
            <a:ext cx="77724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275234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OE-1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633472"/>
            <a:ext cx="1046988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26883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Automatizar análisis SAST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6265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Semgrep + mapeo CWE/OWASP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7614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  📄 semgrep.worker.js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46704"/>
            <a:ext cx="77724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34655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OE-2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3346704"/>
            <a:ext cx="10469880" cy="594360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3401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Gestión multi-tenant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67588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Organizaciones con 4 roles diferenciados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4747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  📄 organizations/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59935"/>
            <a:ext cx="77724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8" y="4178807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OE-3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4059935"/>
            <a:ext cx="1046988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11479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Triage y seguimiento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389119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Ciclo de vida completo de hallazgos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8795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  📄 findings.service.js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73168"/>
            <a:ext cx="77724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2608" y="48920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OE-4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4773168"/>
            <a:ext cx="10469880" cy="594360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4828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Seguridad de la plataforma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10235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JWT dual-token + Zod + Helmet + Rate limit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9011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  📄 middleware/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86400"/>
            <a:ext cx="77724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" y="56052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OE-5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" y="5486400"/>
            <a:ext cx="1046988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43000" y="55412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Revisiones manuales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81558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MANUAL_REVIEW con cálculo de severidades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6144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  📄 scans.service.js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Alcance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¿Qué incluye y qué no incluye FortiDev?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Xavier Rua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Xavier Rua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7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FortiDev PTaaS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5623560" cy="43891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6824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10B981"/>
                </a:solidFill>
                <a:latin typeface="Calibri"/>
              </a:rPr>
              <a:t>Incluye</a:t>
            </a:r>
            <a:endParaRPr sz="1800" b="1" dirty="0">
              <a:solidFill>
                <a:srgbClr val="10B981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" y="217627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Autenticación JWT + refresh token rotativo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56946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Registro (1.er usuario → ADMIN automáticamente)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96265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CRUD de organizaciones con roles multi-tenant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35584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CRUD de proyectos con integración a GitHub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749039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Escaneo SAST automático con Semgrep (Worker Thread)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42231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Revisión manual (MANUAL_REVIEW) por pentesters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5354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Gestión del ciclo de vida de hallazgos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92861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Filtrado de hallazgos (severidad, estado, proyecto)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32180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Dashboard con resumen de actividad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71500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✓  API RESTful con rate limiting, Zod y 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664208"/>
            <a:ext cx="5623560" cy="438912"/>
          </a:xfrm>
          <a:prstGeom prst="rect">
            <a:avLst/>
          </a:prstGeom>
          <a:solidFill>
            <a:srgbClr val="4C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6824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87171"/>
                </a:solidFill>
                <a:latin typeface="Calibri"/>
              </a:rPr>
              <a:t>No </a:t>
            </a:r>
            <a:r>
              <a:rPr sz="1800" b="1" dirty="0" err="1">
                <a:solidFill>
                  <a:srgbClr val="F87171"/>
                </a:solidFill>
                <a:latin typeface="Calibri"/>
              </a:rPr>
              <a:t>incluye</a:t>
            </a:r>
            <a:endParaRPr sz="1800" b="1" dirty="0">
              <a:solidFill>
                <a:srgbClr val="F87171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63640" y="2176272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Análisis DAST (dinámico en ejecución)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56946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Integración CI/CD (GitHub Actions, Jenkins)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96265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Exportación de reportes PDF / SARIF / CVSS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35584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Integración con Burp Suite, Nessus, ZAP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749039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Notificaciones por email, Slack o Teams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142231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Módulo de facturación / suscripciones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5354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Aplicación móvil o cliente de escritorio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928616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BBCBC"/>
                </a:solidFill>
                <a:latin typeface="Calibri"/>
              </a:rPr>
              <a:t>  ✗  Análisis de contenedores (Docker, Kubernetes)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664208"/>
            <a:ext cx="36576" cy="4846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Área a Intervenir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Ciclo de Vida de Desarrollo Seguro (Secure SDLC)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 Anderson Londoño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Anderson de Jesús Londoño Avendaño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Calibri"/>
              </a:rPr>
              <a:t>FortiDev PTaaS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21031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737360"/>
            <a:ext cx="21031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1792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1284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Crear
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06324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POST /api/projects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737360"/>
            <a:ext cx="21031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06040" y="1737360"/>
            <a:ext cx="21031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1792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21284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Iniciar
Escaneo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306324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POST /api/projects/:id/scans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737360"/>
            <a:ext cx="21031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92040" y="1737360"/>
            <a:ext cx="210312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1792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21284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Worker
Thread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306324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git clone + semgrep --json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1737360"/>
            <a:ext cx="21031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78040" y="1737360"/>
            <a:ext cx="21031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1792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21284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Resultados
en BD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306324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INSERT findings (N hallazgos)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1737360"/>
            <a:ext cx="21031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64040" y="1737360"/>
            <a:ext cx="21031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87000" y="1792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21284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Triage
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306324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PATCH /api/findings/:id/status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Ciclo de vida del hallazgo: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681728"/>
            <a:ext cx="2103120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OPEN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681728"/>
            <a:ext cx="210312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51760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IN_PROGRESS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83479" y="4681728"/>
            <a:ext cx="21031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83479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RESOLVED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199" y="4681728"/>
            <a:ext cx="210312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199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ACCEPTED_RISK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19" y="4681728"/>
            <a:ext cx="2103120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6919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FALSE_POSITIVE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Requisitos Funcionales y No Funcionales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Extraídos directamente del código fuente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Anderson Londoño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Anderson de Jesús Londoño Avendaño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Calibri"/>
              </a:rPr>
              <a:t>FortiDev PTaaS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Requisitos Funcionales (selección)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84831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51560" y="2084831"/>
            <a:ext cx="489204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" y="21579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RF-01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57983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Registro: 1.er usuario → 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87752"/>
            <a:ext cx="777240" cy="429768"/>
          </a:xfrm>
          <a:prstGeom prst="rect">
            <a:avLst/>
          </a:prstGeom>
          <a:solidFill>
            <a:srgbClr val="C2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1560" y="2587752"/>
            <a:ext cx="4892040" cy="42976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2660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RF-02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66090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Auth JWT 15min + refresh 7d (cookie httpOnly)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90672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1560" y="3090672"/>
            <a:ext cx="489204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" y="31638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RF-05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16382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Organizaciones multi-tenant con 4 roles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93591"/>
            <a:ext cx="777240" cy="429768"/>
          </a:xfrm>
          <a:prstGeom prst="rect">
            <a:avLst/>
          </a:prstGeom>
          <a:solidFill>
            <a:srgbClr val="C2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51560" y="3593591"/>
            <a:ext cx="4892040" cy="42976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" y="366674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RF-08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666743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SAST con Semgrep en Worker Thread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96512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" y="4096512"/>
            <a:ext cx="489204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1752" y="4169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RF-09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169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Hallazgos con severidad, CWE, OWASP, snippet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599431"/>
            <a:ext cx="777240" cy="429768"/>
          </a:xfrm>
          <a:prstGeom prst="rect">
            <a:avLst/>
          </a:prstGeom>
          <a:solidFill>
            <a:srgbClr val="C2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1560" y="4599431"/>
            <a:ext cx="4892040" cy="42976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" y="46725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RF-11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672583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Triage: OPEN→IN_PROGRESS→RESOLVED/...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102352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1560" y="5102352"/>
            <a:ext cx="489204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1752" y="51755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RF-13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17550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Filtros: severidad, estado, proyecto, tipo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Requisitos No Funcionales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084831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40880" y="2084831"/>
            <a:ext cx="1234440" cy="4297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75320" y="2084831"/>
            <a:ext cx="3611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91072" y="21579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RNF-01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68312" y="2157983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Seguridad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157983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bcrypt 12 rounds (contraseñas)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2587752"/>
            <a:ext cx="777240" cy="429768"/>
          </a:xfrm>
          <a:prstGeom prst="rect">
            <a:avLst/>
          </a:prstGeom>
          <a:solidFill>
            <a:srgbClr val="C2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040880" y="2587752"/>
            <a:ext cx="1234440" cy="4297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75320" y="2587752"/>
            <a:ext cx="3611880" cy="42976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91072" y="2660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RNF-02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8312" y="2660904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Seguridad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6609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Helmet — headers HTTP de seguridad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3090672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040880" y="3090672"/>
            <a:ext cx="1234440" cy="4297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75320" y="3090672"/>
            <a:ext cx="3611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1072" y="31638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RNF-03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8312" y="3163824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Seguridad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16382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Rate limit: 10 req/15min en auth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593591"/>
            <a:ext cx="777240" cy="429768"/>
          </a:xfrm>
          <a:prstGeom prst="rect">
            <a:avLst/>
          </a:prstGeom>
          <a:solidFill>
            <a:srgbClr val="C2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040880" y="3593591"/>
            <a:ext cx="1234440" cy="4297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75320" y="3593591"/>
            <a:ext cx="3611880" cy="42976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91072" y="366674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RNF-04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68312" y="3666743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Seguridad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3666743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Zod — validación antes del controlador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4096512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040880" y="4096512"/>
            <a:ext cx="1234440" cy="4297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275320" y="4096512"/>
            <a:ext cx="3611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91072" y="4169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RNF-06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68312" y="4169664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Rendimiento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16966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Worker Thread — escaneos no bloqueantes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4599431"/>
            <a:ext cx="777240" cy="429768"/>
          </a:xfrm>
          <a:prstGeom prst="rect">
            <a:avLst/>
          </a:prstGeom>
          <a:solidFill>
            <a:srgbClr val="C2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040880" y="4599431"/>
            <a:ext cx="1234440" cy="429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275320" y="4599431"/>
            <a:ext cx="3611880" cy="42976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91072" y="46725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RNF-08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68312" y="4672583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Escalabilidad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4672583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pg.Pool max: 20 conexiones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5102352"/>
            <a:ext cx="777240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040880" y="5102352"/>
            <a:ext cx="1234440" cy="4297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275320" y="5102352"/>
            <a:ext cx="3611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91072" y="51755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RNF-09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68312" y="5175504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Observabilidad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5175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Pino — logging estructurado JSON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1691640"/>
            <a:ext cx="36576" cy="3931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Arquitectura y Stack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Tres capas · ESM · Raw SQL · Worker Thread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Anderson Londoño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Anderson de Jesús Londoño Avendaño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Calibri"/>
              </a:rPr>
              <a:t>FortiDev PTaaS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45920"/>
            <a:ext cx="109728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1645920"/>
            <a:ext cx="9144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17007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CAPA DE PRESENTACIÓN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0482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React 19  ·  React Router v7  ·  Vite 8  ·  Axios 1.15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225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94A3B8"/>
                </a:solidFill>
                <a:latin typeface="Calibri"/>
              </a:rPr>
              <a:t>📄 </a:t>
            </a:r>
            <a:r>
              <a:rPr sz="1100" b="0" dirty="0" err="1">
                <a:solidFill>
                  <a:srgbClr val="94A3B8"/>
                </a:solidFill>
                <a:latin typeface="Calibri"/>
              </a:rPr>
              <a:t>src</a:t>
            </a:r>
            <a:r>
              <a:rPr sz="1100" b="0" dirty="0">
                <a:solidFill>
                  <a:srgbClr val="94A3B8"/>
                </a:solidFill>
                <a:latin typeface="Calibri"/>
              </a:rPr>
              <a:t>/pages/  ·  </a:t>
            </a:r>
            <a:r>
              <a:rPr sz="1100" b="0" dirty="0" err="1">
                <a:solidFill>
                  <a:srgbClr val="94A3B8"/>
                </a:solidFill>
                <a:latin typeface="Calibri"/>
              </a:rPr>
              <a:t>src</a:t>
            </a:r>
            <a:r>
              <a:rPr sz="1100" b="0" dirty="0">
                <a:solidFill>
                  <a:srgbClr val="94A3B8"/>
                </a:solidFill>
                <a:latin typeface="Calibri"/>
              </a:rPr>
              <a:t>/</a:t>
            </a:r>
            <a:r>
              <a:rPr sz="1100" b="0" dirty="0" err="1">
                <a:solidFill>
                  <a:srgbClr val="94A3B8"/>
                </a:solidFill>
                <a:latin typeface="Calibri"/>
              </a:rPr>
              <a:t>api</a:t>
            </a:r>
            <a:r>
              <a:rPr sz="1100" b="0" dirty="0">
                <a:solidFill>
                  <a:srgbClr val="94A3B8"/>
                </a:solidFill>
                <a:latin typeface="Calibri"/>
              </a:rPr>
              <a:t>/  ·  </a:t>
            </a:r>
            <a:r>
              <a:rPr sz="1100" b="0" dirty="0" err="1">
                <a:solidFill>
                  <a:srgbClr val="94A3B8"/>
                </a:solidFill>
                <a:latin typeface="Calibri"/>
              </a:rPr>
              <a:t>src</a:t>
            </a:r>
            <a:r>
              <a:rPr sz="1100" b="0" dirty="0">
                <a:solidFill>
                  <a:srgbClr val="94A3B8"/>
                </a:solidFill>
                <a:latin typeface="Calibri"/>
              </a:rPr>
              <a:t>/context/</a:t>
            </a:r>
            <a:r>
              <a:rPr sz="1100" b="0" dirty="0" err="1">
                <a:solidFill>
                  <a:srgbClr val="94A3B8"/>
                </a:solidFill>
                <a:latin typeface="Calibri"/>
              </a:rPr>
              <a:t>AuthContext</a:t>
            </a:r>
            <a:endParaRPr sz="1100" b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4360" y="3017520"/>
            <a:ext cx="109728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017520"/>
            <a:ext cx="9144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0723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CAPA DE APLICACIÓN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198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Node.js 24  ·  Express 4 (ESM)  ·  Zod  ·  Helmet  ·  Pino  · 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941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📄 src/modules/{auth|users|projects|scans|findings|organizations}/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389120"/>
            <a:ext cx="109728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389120"/>
            <a:ext cx="91440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4439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CAPA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914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PostgreSQL  ·  pg (node-postgres)  ·  SQL parametrizado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657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📄 src/database/schema.sql  ·  pg.Pool(max:20)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651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↕  HTTP/REST + JSON / SQL parametrizado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23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↕  HTTP/REST + JSON / SQL parametrizado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Propuesta de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Decisiones técnicas clave que definen la arquitectura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Calibri"/>
              </a:rPr>
              <a:t>Anderson Londoño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Anderson de Jesús Londoño Avendaño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Calibri"/>
              </a:rPr>
              <a:t>FortiDev PTaaS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664208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179222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Feature-Sliced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258568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queries.js → service.js → controller.js → routes.js
Un directorio por dominio en src/modules/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664208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59" y="1664208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7" y="179222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Raw SQL sobre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7" y="2258568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Migración Prisma → pg: control total, sin overhead,
sin DLL lock en Windows con nodemon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664208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664208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8" y="179222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Worker Thread para SAST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258568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semgrep.worker.js corre en hilo independiente con su
propio pg.Pool — servidor nunca bloqueado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67328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767328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389534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JWT dual-token + rotación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361688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Access: 15min en header Bearer
Refresh: 7d en cookie httpOnly;SameSite=Strict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767328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59" y="3767328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61687" y="389534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Zod fail-fast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7" y="4361688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Esquemas definidos en *.routes.js
HTTP 400 antes de llegar al controlador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767328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3767328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39328" y="389534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alibri"/>
              </a:rPr>
              <a:t>Graceful shutdown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4361688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SIGTERM/SIGINT cierran el pool de pg
antes de terminar el proceso Node.js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FortiDev — Penetration Testing as a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9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10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  Todos los integrantes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510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FortiDev PTaaS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116128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73152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Calibri"/>
              </a:rPr>
              <a:t>Problema real resuelto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FortiDev integra seguridad en el SDLC eliminando la brecha entre velocidad y seguridad en equipos ágiles.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116128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Arquitectura sólida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101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Feature-Sliced, Raw SQL, Worker Thread y validación Zod forman una base técnica robusta y escalable.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116128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Calibri"/>
              </a:rPr>
              <a:t>Seguridad por diseño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445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La plataforma aplica las mismas buenas prácticas que promueve: bcrypt 12, JWT 15min, Helmet, rate limiting.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773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4A3B8"/>
                </a:solidFill>
                <a:latin typeface="Calibri"/>
              </a:rPr>
              <a:t>Próximos pasos: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193792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Calibri"/>
              </a:rPr>
              <a:t>Integración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CI/CD (GitHub Actions, GitLab CI)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93792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Calibri"/>
              </a:rPr>
              <a:t>Exportación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reportes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PDF / SARIF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650992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Calibri"/>
              </a:rPr>
              <a:t>Soporte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DAST con OWASP ZAP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650992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Calibri"/>
              </a:rPr>
              <a:t>Contenedorización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con Docker Compose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1432</Words>
  <Application>Microsoft Office PowerPoint</Application>
  <PresentationFormat>Personalizado</PresentationFormat>
  <Paragraphs>259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Anderson de jesus Londoño Avendaño</cp:lastModifiedBy>
  <cp:revision>2</cp:revision>
  <dcterms:created xsi:type="dcterms:W3CDTF">2013-01-27T09:14:16Z</dcterms:created>
  <dcterms:modified xsi:type="dcterms:W3CDTF">2026-05-13T02:26:27Z</dcterms:modified>
  <cp:category/>
</cp:coreProperties>
</file>